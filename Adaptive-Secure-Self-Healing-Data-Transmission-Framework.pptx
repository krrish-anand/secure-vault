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Lato"/>
      <p:regular r:id="rId14"/>
    </p:embeddedFont>
    <p:embeddedFont>
      <p:font typeface="Lato"/>
      <p:regular r:id="rId15"/>
    </p:embeddedFont>
    <p:embeddedFont>
      <p:font typeface="Lato"/>
      <p:regular r:id="rId16"/>
    </p:embeddedFont>
    <p:embeddedFont>
      <p:font typeface="Lato"/>
      <p:regular r:id="rId17"/>
    </p:embeddedFont>
    <p:embeddedFont>
      <p:font typeface="Lato"/>
      <p:regular r:id="rId18"/>
    </p:embeddedFont>
    <p:embeddedFont>
      <p:font typeface="Lato"/>
      <p:regular r:id="rId19"/>
    </p:embeddedFont>
    <p:embeddedFont>
      <p:font typeface="Lato"/>
      <p:regular r:id="rId20"/>
    </p:embeddedFont>
    <p:embeddedFont>
      <p:font typeface="Lat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5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427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Adaptive Secure Self-Healing Data Transmission Framework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21336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Secure and Reliable Data Transmission over Unstable Networks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60624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16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84007"/>
            <a:ext cx="4196358" cy="2423874"/>
          </a:xfrm>
          <a:prstGeom prst="roundRect">
            <a:avLst>
              <a:gd name="adj" fmla="val 1404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71082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89786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618077"/>
            <a:ext cx="37427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Unstable networks cause packet loss and out-of-order delivery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216962" y="3484007"/>
            <a:ext cx="4196358" cy="2423874"/>
          </a:xfrm>
          <a:prstGeom prst="roundRect">
            <a:avLst>
              <a:gd name="adj" fmla="val 1404"/>
            </a:avLst>
          </a:prstGeom>
          <a:solidFill>
            <a:srgbClr val="E5DFD2"/>
          </a:solidFill>
          <a:ln/>
        </p:spPr>
      </p:sp>
      <p:sp>
        <p:nvSpPr>
          <p:cNvPr id="8" name="Shape 5"/>
          <p:cNvSpPr/>
          <p:nvPr/>
        </p:nvSpPr>
        <p:spPr>
          <a:xfrm>
            <a:off x="5443776" y="371082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897868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3776" y="4618077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can be intercepted or tampered with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9640133" y="3484007"/>
            <a:ext cx="4196358" cy="2423874"/>
          </a:xfrm>
          <a:prstGeom prst="roundRect">
            <a:avLst>
              <a:gd name="adj" fmla="val 1404"/>
            </a:avLst>
          </a:prstGeom>
          <a:solidFill>
            <a:srgbClr val="E5DFD2"/>
          </a:solidFill>
          <a:ln/>
        </p:spPr>
      </p:sp>
      <p:sp>
        <p:nvSpPr>
          <p:cNvPr id="12" name="Shape 8"/>
          <p:cNvSpPr/>
          <p:nvPr/>
        </p:nvSpPr>
        <p:spPr>
          <a:xfrm>
            <a:off x="9866948" y="371082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897868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66948" y="4618077"/>
            <a:ext cx="37427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Existing systems focus only on security or reliability, not both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75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7088"/>
            <a:ext cx="580715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Smart transmission system combining: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522702"/>
            <a:ext cx="4196358" cy="1178600"/>
          </a:xfrm>
          <a:prstGeom prst="roundRect">
            <a:avLst>
              <a:gd name="adj" fmla="val 12413"/>
            </a:avLst>
          </a:prstGeom>
          <a:solidFill>
            <a:srgbClr val="EFECE6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49222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18254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sp>
        <p:nvSpPr>
          <p:cNvPr id="7" name="Text 5"/>
          <p:cNvSpPr/>
          <p:nvPr/>
        </p:nvSpPr>
        <p:spPr>
          <a:xfrm>
            <a:off x="2755761" y="335268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4089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Security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216962" y="3522702"/>
            <a:ext cx="4196358" cy="1178600"/>
          </a:xfrm>
          <a:prstGeom prst="roundRect">
            <a:avLst>
              <a:gd name="adj" fmla="val 12413"/>
            </a:avLst>
          </a:prstGeom>
          <a:solidFill>
            <a:srgbClr val="EFECE6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349222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318254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35268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4089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Integrity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640133" y="3522702"/>
            <a:ext cx="4196358" cy="1178600"/>
          </a:xfrm>
          <a:prstGeom prst="roundRect">
            <a:avLst>
              <a:gd name="adj" fmla="val 12413"/>
            </a:avLst>
          </a:prstGeom>
          <a:solidFill>
            <a:srgbClr val="EFECE6"/>
          </a:solidFill>
          <a:ln/>
        </p:spPr>
      </p:sp>
      <p:sp>
        <p:nvSpPr>
          <p:cNvPr id="15" name="Shape 13"/>
          <p:cNvSpPr/>
          <p:nvPr/>
        </p:nvSpPr>
        <p:spPr>
          <a:xfrm>
            <a:off x="9640133" y="349222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98032" y="318254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828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602105" y="335268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897427" y="4089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Self-healing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50414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Highlight: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793790" y="5806916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Adaptive encryption based on network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 recovery of lost data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1857" y="600313"/>
            <a:ext cx="3509605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Architecture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2612231" y="1423273"/>
            <a:ext cx="140375" cy="631627"/>
          </a:xfrm>
          <a:prstGeom prst="roundRect">
            <a:avLst>
              <a:gd name="adj" fmla="val 15001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2471857" y="1331119"/>
            <a:ext cx="421124" cy="421124"/>
          </a:xfrm>
          <a:prstGeom prst="roundRect">
            <a:avLst>
              <a:gd name="adj" fmla="val 108567"/>
            </a:avLst>
          </a:prstGeom>
          <a:solidFill>
            <a:srgbClr val="E5DFD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7108" y="1436489"/>
            <a:ext cx="210503" cy="2105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79777" y="1353145"/>
            <a:ext cx="1754743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Network Intelligence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822734" y="2352318"/>
            <a:ext cx="140375" cy="631627"/>
          </a:xfrm>
          <a:prstGeom prst="roundRect">
            <a:avLst>
              <a:gd name="adj" fmla="val 15001"/>
            </a:avLst>
          </a:prstGeom>
          <a:solidFill>
            <a:srgbClr val="E5DFD2"/>
          </a:solidFill>
          <a:ln/>
        </p:spPr>
      </p:sp>
      <p:sp>
        <p:nvSpPr>
          <p:cNvPr id="8" name="Shape 5"/>
          <p:cNvSpPr/>
          <p:nvPr/>
        </p:nvSpPr>
        <p:spPr>
          <a:xfrm>
            <a:off x="2682359" y="2260163"/>
            <a:ext cx="421124" cy="421124"/>
          </a:xfrm>
          <a:prstGeom prst="roundRect">
            <a:avLst>
              <a:gd name="adj" fmla="val 108567"/>
            </a:avLst>
          </a:prstGeom>
          <a:solidFill>
            <a:srgbClr val="E5DFD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7610" y="2365534"/>
            <a:ext cx="210503" cy="2105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90280" y="2282190"/>
            <a:ext cx="2511266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Processing (block splitting)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033355" y="3281363"/>
            <a:ext cx="140375" cy="631627"/>
          </a:xfrm>
          <a:prstGeom prst="roundRect">
            <a:avLst>
              <a:gd name="adj" fmla="val 15001"/>
            </a:avLst>
          </a:prstGeom>
          <a:solidFill>
            <a:srgbClr val="E5DFD2"/>
          </a:solidFill>
          <a:ln/>
        </p:spPr>
      </p:sp>
      <p:sp>
        <p:nvSpPr>
          <p:cNvPr id="12" name="Shape 8"/>
          <p:cNvSpPr/>
          <p:nvPr/>
        </p:nvSpPr>
        <p:spPr>
          <a:xfrm>
            <a:off x="2892981" y="3189208"/>
            <a:ext cx="421124" cy="421124"/>
          </a:xfrm>
          <a:prstGeom prst="roundRect">
            <a:avLst>
              <a:gd name="adj" fmla="val 108567"/>
            </a:avLst>
          </a:prstGeom>
          <a:solidFill>
            <a:srgbClr val="E5DFD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8232" y="3294578"/>
            <a:ext cx="210503" cy="2105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00901" y="3211235"/>
            <a:ext cx="1824037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Encryption (AES + RSA)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3243858" y="4210407"/>
            <a:ext cx="140375" cy="631627"/>
          </a:xfrm>
          <a:prstGeom prst="roundRect">
            <a:avLst>
              <a:gd name="adj" fmla="val 15001"/>
            </a:avLst>
          </a:prstGeom>
          <a:solidFill>
            <a:srgbClr val="E5DFD2"/>
          </a:solidFill>
          <a:ln/>
        </p:spPr>
      </p:sp>
      <p:sp>
        <p:nvSpPr>
          <p:cNvPr id="16" name="Shape 11"/>
          <p:cNvSpPr/>
          <p:nvPr/>
        </p:nvSpPr>
        <p:spPr>
          <a:xfrm>
            <a:off x="3103483" y="4118253"/>
            <a:ext cx="421124" cy="421124"/>
          </a:xfrm>
          <a:prstGeom prst="roundRect">
            <a:avLst>
              <a:gd name="adj" fmla="val 108567"/>
            </a:avLst>
          </a:prstGeom>
          <a:solidFill>
            <a:srgbClr val="E5DFD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08734" y="4223623"/>
            <a:ext cx="210503" cy="2105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11404" y="4140279"/>
            <a:ext cx="2554486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Integrity (SHA-256 + blockchain)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3033355" y="5139452"/>
            <a:ext cx="140375" cy="631627"/>
          </a:xfrm>
          <a:prstGeom prst="roundRect">
            <a:avLst>
              <a:gd name="adj" fmla="val 15001"/>
            </a:avLst>
          </a:prstGeom>
          <a:solidFill>
            <a:srgbClr val="E5DFD2"/>
          </a:solidFill>
          <a:ln/>
        </p:spPr>
      </p:sp>
      <p:sp>
        <p:nvSpPr>
          <p:cNvPr id="20" name="Shape 14"/>
          <p:cNvSpPr/>
          <p:nvPr/>
        </p:nvSpPr>
        <p:spPr>
          <a:xfrm>
            <a:off x="2892981" y="5047298"/>
            <a:ext cx="421124" cy="421124"/>
          </a:xfrm>
          <a:prstGeom prst="roundRect">
            <a:avLst>
              <a:gd name="adj" fmla="val 108567"/>
            </a:avLst>
          </a:prstGeom>
          <a:solidFill>
            <a:srgbClr val="E5DFD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98232" y="5152668"/>
            <a:ext cx="210503" cy="2105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00901" y="5069324"/>
            <a:ext cx="211216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Self-Healing (parity blocks)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2822734" y="6068497"/>
            <a:ext cx="140375" cy="631627"/>
          </a:xfrm>
          <a:prstGeom prst="roundRect">
            <a:avLst>
              <a:gd name="adj" fmla="val 15001"/>
            </a:avLst>
          </a:prstGeom>
          <a:solidFill>
            <a:srgbClr val="E5DFD2"/>
          </a:solidFill>
          <a:ln/>
        </p:spPr>
      </p:sp>
      <p:sp>
        <p:nvSpPr>
          <p:cNvPr id="24" name="Shape 17"/>
          <p:cNvSpPr/>
          <p:nvPr/>
        </p:nvSpPr>
        <p:spPr>
          <a:xfrm>
            <a:off x="2682359" y="5976342"/>
            <a:ext cx="421124" cy="421124"/>
          </a:xfrm>
          <a:prstGeom prst="roundRect">
            <a:avLst>
              <a:gd name="adj" fmla="val 108567"/>
            </a:avLst>
          </a:prstGeom>
          <a:solidFill>
            <a:srgbClr val="E5DFD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87610" y="6081713"/>
            <a:ext cx="210503" cy="2105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190280" y="5998369"/>
            <a:ext cx="2054662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Transmission (TCP + retry)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2612231" y="6997541"/>
            <a:ext cx="140375" cy="631627"/>
          </a:xfrm>
          <a:prstGeom prst="roundRect">
            <a:avLst>
              <a:gd name="adj" fmla="val 15001"/>
            </a:avLst>
          </a:prstGeom>
          <a:solidFill>
            <a:srgbClr val="E5DFD2"/>
          </a:solidFill>
          <a:ln/>
        </p:spPr>
      </p:sp>
      <p:sp>
        <p:nvSpPr>
          <p:cNvPr id="28" name="Shape 20"/>
          <p:cNvSpPr/>
          <p:nvPr/>
        </p:nvSpPr>
        <p:spPr>
          <a:xfrm>
            <a:off x="2471857" y="6905387"/>
            <a:ext cx="421124" cy="421124"/>
          </a:xfrm>
          <a:prstGeom prst="roundRect">
            <a:avLst>
              <a:gd name="adj" fmla="val 108567"/>
            </a:avLst>
          </a:prstGeom>
          <a:solidFill>
            <a:srgbClr val="E5DFD2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77108" y="7010757"/>
            <a:ext cx="210503" cy="21050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979777" y="6927413"/>
            <a:ext cx="3063716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Receiver (verification + reconstruction)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778"/>
            <a:ext cx="57791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Technologies Used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3518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85649"/>
            <a:ext cx="46736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AES (Advanced Encryption Standard)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35185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56884" y="3285649"/>
            <a:ext cx="36306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RSA-2048 (for key exchange)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09360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3790" y="4944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SHA-256 (hashing)</a:t>
            </a:r>
            <a:endParaRPr lang="en-US" sz="2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093607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56884" y="4944070"/>
            <a:ext cx="47780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Erasure Coding (XOR-based recovery)</a:t>
            </a:r>
            <a:endParaRPr lang="en-US" sz="2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752028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93790" y="6602492"/>
            <a:ext cx="53353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Blockchain (immutable transaction ledger)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8216" y="477441"/>
            <a:ext cx="3910727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Working Flow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216" y="1182053"/>
            <a:ext cx="782122" cy="938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08208" y="1338382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Split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16" y="2120622"/>
            <a:ext cx="782122" cy="9385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08208" y="2276951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Encrypt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216" y="3059192"/>
            <a:ext cx="782122" cy="9385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08208" y="3215521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Hash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216" y="3997762"/>
            <a:ext cx="782122" cy="93857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808208" y="4154091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Send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8216" y="4936331"/>
            <a:ext cx="782122" cy="93857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808208" y="5092660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Verify</a:t>
            </a:r>
            <a:endParaRPr lang="en-US" sz="15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216" y="5874901"/>
            <a:ext cx="782122" cy="93857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808208" y="6031230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Recover</a:t>
            </a:r>
            <a:endParaRPr lang="en-US" sz="15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8216" y="6813471"/>
            <a:ext cx="782122" cy="93857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808208" y="6969800"/>
            <a:ext cx="195536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Reassemble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0526"/>
            <a:ext cx="58441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Results / Contributions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29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2590800"/>
            <a:ext cx="31608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Secure data transmission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34768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6" name="Text 4"/>
          <p:cNvSpPr/>
          <p:nvPr/>
        </p:nvSpPr>
        <p:spPr>
          <a:xfrm>
            <a:off x="1530906" y="3554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Detects tampering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1530906" y="4518660"/>
            <a:ext cx="57878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Recovers missing data without retransmission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540472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5482590"/>
            <a:ext cx="37341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Works in unreliable networks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93790" y="63686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2" name="Text 10"/>
          <p:cNvSpPr/>
          <p:nvPr/>
        </p:nvSpPr>
        <p:spPr>
          <a:xfrm>
            <a:off x="1530906" y="6446520"/>
            <a:ext cx="50637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Mention "self-healing capability" clearly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2026-03-27T17:27:30Z</dcterms:created>
  <dcterms:modified xsi:type="dcterms:W3CDTF">2026-03-27T17:27:30Z</dcterms:modified>
</cp:coreProperties>
</file>